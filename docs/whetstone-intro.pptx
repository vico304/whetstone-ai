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B3A40"/>
                </a:solidFill>
                <a:latin typeface="Calibri"/>
              </a:defRPr>
            </a:pPr>
            <a:r>
              <a:rPr lang="zh-CN" altLang="en-US" sz="1100" b="0" i="0" u="none" strike="noStrike">
                <a:solidFill>
                  <a:srgbClr val="2B3A40"/>
                </a:solidFill>
                <a:latin typeface="Calibri"/>
              </a:rPr>
              <a:t>学习策略的元分析效应量（</a:t>
            </a:r>
            <a:r>
              <a:rPr lang="es-419" sz="1100" b="0" i="0" u="none" strike="noStrike">
                <a:solidFill>
                  <a:srgbClr val="2B3A40"/>
                </a:solidFill>
                <a:latin typeface="Calibri"/>
              </a:rPr>
              <a:t>Hedges' g）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效应量 g</c:v>
                </c:pt>
              </c:strCache>
            </c:strRef>
          </c:tx>
          <c:spPr>
            <a:solidFill>
              <a:srgbClr val="22303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3A40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自己构建概念图</c:v>
                </c:pt>
                <c:pt idx="1">
                  <c:v>检索练习（vs 对照）</c:v>
                </c:pt>
                <c:pt idx="2">
                  <c:v>自我解释</c:v>
                </c:pt>
                <c:pt idx="3">
                  <c:v>研读现成概念图</c:v>
                </c:pt>
                <c:pt idx="4">
                  <c:v>重读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0.72</c:v>
                </c:pt>
                <c:pt idx="1">
                  <c:v>0.61</c:v>
                </c:pt>
                <c:pt idx="2">
                  <c:v>0.55000000000000004</c:v>
                </c:pt>
                <c:pt idx="3">
                  <c:v>0.43</c:v>
                </c:pt>
                <c:pt idx="4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73-D948-B8A3-76DAF393F6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3A40"/>
                </a:solidFill>
                <a:latin typeface="Calibri"/>
              </a:defRPr>
            </a:pPr>
            <a:endParaRPr lang="zh-CN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513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大家好，我今天想分享一个我自己做的项目，叫 Whetstone，磨刀石。
先说一句它的定位：这是一个故意做得“难用”的 AI 学习系统。市面上所有的学习工具都在比谁更省力，这个项目站在相反的一边。为什么要这样做，是今天最想讲清楚的事。
接下来大约十分钟：先讲一个观察，再讲一个反直觉的结论，然后是四条设计理念、当前落地情况，最后是我从这个项目里学到的东西。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先从一个大家都有体会的现象说起。这三种场景我自己都经历过：网课两倍速，AI 一百字总结，还有用 agent 写代码时只会说“继续”“报错了”。
它们的共同点是：产生了大量的熟悉感，但没有形成可以解释、可以迁移的心智模型。我把它叫做“看过很多，调用不出”。
LLM 让这个问题更严重了——它能生成非常流畅的解释，如果没有来源约束，错误会被当成“已经学会的知识”沉淀下来。
所以这个项目要回答的问题不是“读到第几页”，而是右边这三句：你现在真正理解了什么、哪里不稳、下一段时间最值得做什么。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这是学习科学几十年反复验证的一个结论，叫“必要难度”。
看这张图：自己从记忆里构建概念图，效应量 0.72；检索练习 0.6 左右；自我解释 0.55。而“研读一张现成的概念图”只有 0.43，重读几乎为零。
注意最上面和第四条的对比：同样是概念图，自己画和看别人画的，差了将近一倍。这就是这个项目的全部依据——让学习变流畅的手段大多损害长期保持，让检索变费力的手段大多增强它。
所以 Whetstone 的设计原则是反着来的：不优化无摩擦，摩擦本身就是学习机制。数字来自元分析，我在仓库的证据评审文档里逐条核对过。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第一条设计理念：不做摘要器。
你给它一本书、一份文档或者一个代码库，它不会给你一个摘要，而是把材料重新组织成一条链：这组材料到底要解决什么问题，最早最直接的方案是什么，这个方案解决了什么、又暴露了什么新问题，下一个组件或者决策又是怎么回应这个新问题的。
摘要回答“讲了什么”，问题链回答“每一步为什么存在”。理解一个系统，本质上是理解每个设计决策存在的理由，而不是记住术语。
顺带一提，课程顺序是按因果和先修关系排的，经常和原文顺序不一样，工具会明确告诉你这一点。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第二条理念是整个学习闭环的骨架：先重建，再看参考。
每一节课五步：读方案之前先预测；读；然后合上材料，用自己的话把概念和机制讲一遍，讲之前先给自己的信心打分；系统不会照抄题库来考你，而是针对你回答里实际最弱的那一点追问；下次再打开的时候，先用一道变式题看看上次的理解还在不在。
下面三条是贯穿性原则。最重要的是那条红线：首次重建之前，绝不展示参考答案。一旦允许翻书，主动回忆就退化成识别和抄写，就是刚才图里效应量 0.43 的那种形态。
信心自评那一步也有讲究：反馈会优先曝光“高信心但错误”的地方，因为那才是最危险的错误。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第三条理念，也是这个项目里我最看重的一个设计：机器参考不是标准答案。
普通的 LLM 问答只有一层——模型说什么就是什么，错了也没有裁判。Whetstone 同时维护三种表示：最底层是原文证据层，不可变、带版本；在它之上有两张图，一张是机器读完材料以后组织出来的参考图，另一张是学习者在看不到参考的条件下自己重建出来的图。
关键在于：这两张图谁都不是权威。它们的差异要回到原文去裁决——学习者可能错，机器也可能错。
这一次比较同时干了四件事：诊断学习者、质检机器的图、验证双方是否忠于原文、以及决定下一步该学什么。这是整个设计的支点。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第四条理念讲的是工程上的“诚实”。
LLM 最大的风险是把不确定的东西说得很确定。所以在 Whetstone 里，每一条知识输出都要标注支持类型——是原文明说的、能推出来的、我为了教学方便推断的、外部知识、还是没有支持。教学推断不能伪装成作者原意。
第二，不覆盖。学习者的首次回答和机器的参考互相不能改写对方，修订只产生新版本。这保证了后续所有诊断都有原始证据。
第三，职责分离，同一次推理不能既生成又审核又发布——这和我们做软件时“提交代码的人不能自己审自己”是一个道理。
第四，允许说“不知道”。掌握度不压成一个分数，“原文模糊”“无证据”都是合法状态。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讲了这么多理念，它现在是什么形态？
是一个技能插件。同一份技能目录，可以装进 Codex、Claude Code 和 DeepSeek Harness 三个宿主，不用为每个宿主维护分支。里面有两个技能：主技能负责从材料生成问题链课程并逐节教学；clarify 负责概念笔记——你在任何文档里写一个双方括号的概念名，它就会生成一份有来源、有例子的笔记，用 Obsidian 打开双链和关系图直接可用。
右边是一次学习会留下的东西：给人读的教学文档、机器可校验的课程计划、来源清单、以及完整的学习进度——首次回答和所有修订都在。
全部是标准库 Python，有单元测试。核心闭环我自己每天在用。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这一页要诚实。
刚才讲的三层架构里，最有原创性的那一步——两张图的比较——在实现里还没有真正跑起来。学习者的重建现在还是一段文本，没有结构化成图，比较器也不存在。这不是“少做了一个功能”，而是核心假设还没被检验。
下一步的优先级非常明确，就三件事：加一个以概念为键的跨课学习者状态；把重建结构化并写一个比较器，输出差异清单而不是分数；然后拿数据说话，再决定要不要做网页端。
共识文档末尾列了十二个开放问题，我要求自己和所有参与的 agent 都不能把它们写成结论。这页就讲到这里，不展开。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最后想分享三个我从这个项目里带走的方法，我觉得比项目本身更值得说。
第一，先写共识，再写代码。这个仓库里文档是一等公民：一份共识文档是所有规则冲突时的唯一权威，一页设计文档讲清中心思想。后来每次改代码，都是在回答“这符不符合共识”。
第二，主动找反面证据。我给自己的方案做了一次正式的证据评审，专门去找能否定它的研究。结果发现 Khanmigo 两年的随机对照试验说明 AI 能力不是瓶颈、参与度才是——这直接改变了我的实施顺序。
第三，先验证核心假设，再做产品。做网页端很诱人，但在假设没验证之前做产品，等于把猜想浇进混凝土。所以下一步只加两个脚本，拿数据说话。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收尾一句话：让 AI 把你磨锋利，而不是替你锋利。
README 上写着“这是最难用的学习工具，不建议任何人使用”——这是认真的，也是玩笑。如果你也愿意做推巨石的西西弗斯，仓库是开源的，欢迎来试，更欢迎来拆。
谢谢大家，欢迎提问。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777240" cy="777240"/>
          </a:xfrm>
          <a:prstGeom prst="ellipse">
            <a:avLst/>
          </a:prstGeom>
          <a:solidFill>
            <a:srgbClr val="E8853A"/>
          </a:solidFill>
          <a:ln w="12700">
            <a:solidFill>
              <a:srgbClr val="E8853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796442"/>
            <a:ext cx="373075" cy="37307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6002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Whetstone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68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E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一个故意“难用”的 AI 学习系统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刀不是靠泡在油里变锋利的。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校招生项目分享  ·  Vico  ·  2026 年 9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一个观察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时代的“学习幻觉”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572000" cy="896112"/>
          </a:xfrm>
          <a:prstGeom prst="roundRect">
            <a:avLst>
              <a:gd name="adj" fmla="val 10204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30352" cy="530352"/>
          </a:xfrm>
          <a:prstGeom prst="ellipse">
            <a:avLst/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12" y="1600932"/>
            <a:ext cx="254569" cy="2545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408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网课开两倍速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737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F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看完了，但合上视频什么也复述不出来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4572000" cy="896112"/>
          </a:xfrm>
          <a:prstGeom prst="roundRect">
            <a:avLst>
              <a:gd name="adj" fmla="val 10204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514600"/>
            <a:ext cx="530352" cy="530352"/>
          </a:xfrm>
          <a:prstGeom prst="ellipse">
            <a:avLst/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412" y="265249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4597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论文让 AI 总结成一百字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2788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F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记住了结论，不知道它是怎么被推出来的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4572000" cy="896112"/>
          </a:xfrm>
          <a:prstGeom prst="roundRect">
            <a:avLst>
              <a:gd name="adj" fmla="val 10204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566160"/>
            <a:ext cx="530352" cy="530352"/>
          </a:xfrm>
          <a:prstGeom prst="ellipse">
            <a:avLst/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412" y="3704052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5112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“继续”“报错了”“给我能跑的”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8404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F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代码跑起来了，脑子里没有留下任何结构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40680" y="1280160"/>
            <a:ext cx="3154680" cy="3136392"/>
          </a:xfrm>
          <a:prstGeom prst="roundRect">
            <a:avLst>
              <a:gd name="adj" fmla="val 2915"/>
            </a:avLst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71500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E88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熟悉感 ≠ 理解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0" y="2240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传统阅读和普通 LLM 问答产生同一类失败：看过很多，调用不出。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715000" y="301752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E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项目真正要回答的不是“读到第几页”，而是：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E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你现在真正理解了什么？哪些概念不稳固？下一次 8 分钟最值得做什么？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一个反直觉的结论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让学习变“费力”，才记得住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34440"/>
          <a:ext cx="49377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234440"/>
            <a:ext cx="2834640" cy="3246120"/>
          </a:xfrm>
          <a:prstGeom prst="roundRect">
            <a:avLst>
              <a:gd name="adj" fmla="val 322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89320" y="1463040"/>
            <a:ext cx="502920" cy="502920"/>
          </a:xfrm>
          <a:prstGeom prst="ellipse">
            <a:avLst/>
          </a:prstGeom>
          <a:solidFill>
            <a:srgbClr val="E8853A"/>
          </a:solidFill>
          <a:ln w="12700">
            <a:solidFill>
              <a:srgbClr val="E8853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079" y="1593799"/>
            <a:ext cx="241402" cy="2414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98932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Desirable difficulties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必要难度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989320" y="278892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让学习“感觉”变容易的手段，大多损害长期保持；让检索变费力的手段，大多增强它。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 Whetstone 不优化“无摩擦”——摩擦本身就是机制。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来源：Schroeder et al. 2018（概念图，142 效应量）；Adesope et al. 2017（检索练习，272 效应量）；Bisra et al. 2018（自我解释，69 效应量）。重读效应接近零，此处以 0.03 示意。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设计理念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不做摘要器，做“问题链”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261872" cy="731520"/>
          </a:xfrm>
          <a:prstGeom prst="chevron">
            <a:avLst/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89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原始材料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01952" y="1417320"/>
            <a:ext cx="1261872" cy="731520"/>
          </a:xfrm>
          <a:prstGeom prst="chevron">
            <a:avLst/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84832" y="1417320"/>
            <a:ext cx="89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总体问题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55264" y="1417320"/>
            <a:ext cx="1261872" cy="731520"/>
          </a:xfrm>
          <a:prstGeom prst="chevron">
            <a:avLst/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38144" y="1417320"/>
            <a:ext cx="89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最早方案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08576" y="1417320"/>
            <a:ext cx="1261872" cy="731520"/>
          </a:xfrm>
          <a:prstGeom prst="chevron">
            <a:avLst/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91456" y="1417320"/>
            <a:ext cx="89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新问题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61888" y="1417320"/>
            <a:ext cx="1261872" cy="731520"/>
          </a:xfrm>
          <a:prstGeom prst="chevron">
            <a:avLst/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44768" y="1417320"/>
            <a:ext cx="89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下一方案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0" y="1417320"/>
            <a:ext cx="1261872" cy="731520"/>
          </a:xfrm>
          <a:prstGeom prst="chevron">
            <a:avLst/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0" y="1417320"/>
            <a:ext cx="89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未决问题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3931920" cy="1965960"/>
          </a:xfrm>
          <a:prstGeom prst="roundRect">
            <a:avLst>
              <a:gd name="adj" fmla="val 465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5A7684"/>
          </a:solidFill>
          <a:ln w="12700">
            <a:solidFill>
              <a:srgbClr val="5A7684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862072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37160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F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摘要回答的是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“材料讲了什么”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3474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结论被压缩成结论，每一步“为什么存在”被抹掉——这正是立项时明确要避开的失败形态：文件 → 摘要 → 闪卡。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663440" y="2514600"/>
            <a:ext cx="3931920" cy="1965960"/>
          </a:xfrm>
          <a:prstGeom prst="roundRect">
            <a:avLst>
              <a:gd name="adj" fmla="val 4651"/>
            </a:avLst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92040" y="2743200"/>
            <a:ext cx="457200" cy="457200"/>
          </a:xfrm>
          <a:prstGeom prst="ellipse">
            <a:avLst/>
          </a:prstGeom>
          <a:solidFill>
            <a:srgbClr val="E8853A"/>
          </a:solidFill>
          <a:ln w="12700">
            <a:solidFill>
              <a:srgbClr val="E8853A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2862072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48640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E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问题链回答的是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548640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“每一步为什么存在”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4892040" y="3474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课程顺序服务因果理解和先修关系，而不是文件顺序。每一节都是：当前问题 → 方案 → 机制 → 代价 → 它引出的新问题。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设计理念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先重建，再看参考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536192" cy="1417320"/>
          </a:xfrm>
          <a:prstGeom prst="roundRect">
            <a:avLst>
              <a:gd name="adj" fmla="val 645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365760" cy="365760"/>
          </a:xfrm>
          <a:prstGeom prst="ellipse">
            <a:avLst/>
          </a:prstGeom>
          <a:solidFill>
            <a:srgbClr val="5A7684"/>
          </a:solidFill>
          <a:ln w="12700">
            <a:solidFill>
              <a:srgbClr val="5A768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0136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031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读到方案之前先问：你觉得该怎么解决？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76272" y="1234440"/>
            <a:ext cx="1536192" cy="1417320"/>
          </a:xfrm>
          <a:prstGeom prst="roundRect">
            <a:avLst>
              <a:gd name="adj" fmla="val 645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13432" y="1371600"/>
            <a:ext cx="365760" cy="365760"/>
          </a:xfrm>
          <a:prstGeom prst="ellipse">
            <a:avLst/>
          </a:prstGeom>
          <a:solidFill>
            <a:srgbClr val="5A7684"/>
          </a:solidFill>
          <a:ln w="12700">
            <a:solidFill>
              <a:srgbClr val="5A768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13432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13432" y="180136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阅读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313432" y="21031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看方案与机制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03904" y="1234440"/>
            <a:ext cx="1536192" cy="1417320"/>
          </a:xfrm>
          <a:prstGeom prst="roundRect">
            <a:avLst>
              <a:gd name="adj" fmla="val 6452"/>
            </a:avLst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41064" y="1371600"/>
            <a:ext cx="365760" cy="365760"/>
          </a:xfrm>
          <a:prstGeom prst="ellipse">
            <a:avLst/>
          </a:prstGeom>
          <a:solidFill>
            <a:srgbClr val="E8853A"/>
          </a:solidFill>
          <a:ln w="12700">
            <a:solidFill>
              <a:srgbClr val="E885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41064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941064" y="180136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合上材料重建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941064" y="21031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用自己的话解释，并自评信心 1–5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31536" y="1234440"/>
            <a:ext cx="1536192" cy="1417320"/>
          </a:xfrm>
          <a:prstGeom prst="roundRect">
            <a:avLst>
              <a:gd name="adj" fmla="val 645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68696" y="1371600"/>
            <a:ext cx="365760" cy="365760"/>
          </a:xfrm>
          <a:prstGeom prst="ellipse">
            <a:avLst/>
          </a:prstGeom>
          <a:solidFill>
            <a:srgbClr val="5A7684"/>
          </a:solidFill>
          <a:ln w="12700">
            <a:solidFill>
              <a:srgbClr val="5A768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68696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568696" y="180136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追问最弱一点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568696" y="21031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针对你回答里暴露的问题，而不是题库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59168" y="1234440"/>
            <a:ext cx="1536192" cy="1417320"/>
          </a:xfrm>
          <a:prstGeom prst="roundRect">
            <a:avLst>
              <a:gd name="adj" fmla="val 645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96328" y="1371600"/>
            <a:ext cx="365760" cy="365760"/>
          </a:xfrm>
          <a:prstGeom prst="ellipse">
            <a:avLst/>
          </a:prstGeom>
          <a:solidFill>
            <a:srgbClr val="5A7684"/>
          </a:solidFill>
          <a:ln w="12700">
            <a:solidFill>
              <a:srgbClr val="5A768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96328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96328" y="180136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延迟变式检验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196328" y="21031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下次继续时，先用一道变式题验证留存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2880360"/>
            <a:ext cx="438912" cy="438912"/>
          </a:xfrm>
          <a:prstGeom prst="ellipse">
            <a:avLst/>
          </a:prstGeom>
          <a:solidFill>
            <a:srgbClr val="E8853A"/>
          </a:solidFill>
          <a:ln w="12700">
            <a:solidFill>
              <a:srgbClr val="E8853A"/>
            </a:solidFill>
            <a:prstDash val="solid"/>
          </a:ln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7" y="2994477"/>
            <a:ext cx="210678" cy="210678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143000" y="286207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红线：首次重建前不展示参考答案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31089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F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越过这条线，主动回忆就退化为识别和抄写——正是被证明低效的形态。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57" y="3561405"/>
            <a:ext cx="210678" cy="210678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1143000" y="342900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证据等级链</a:t>
            </a:r>
            <a:endParaRPr lang="en-US" sz="1250" dirty="0"/>
          </a:p>
        </p:txBody>
      </p:sp>
      <p:sp>
        <p:nvSpPr>
          <p:cNvPr id="36" name="Text 32"/>
          <p:cNvSpPr txBox="1"/>
          <p:nvPr/>
        </p:nvSpPr>
        <p:spPr>
          <a:xfrm>
            <a:off x="1143000" y="36758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F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即时识别 &lt; 即时复述 &lt; 延迟解释 &lt; 延迟关系重建 &lt; 新情境迁移。系统信任延迟与迁移证据，不信任即时表现。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548640" y="4014216"/>
            <a:ext cx="438912" cy="438912"/>
          </a:xfrm>
          <a:prstGeom prst="ellipse">
            <a:avLst/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57" y="4128333"/>
            <a:ext cx="210678" cy="210678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1143000" y="399592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提示渐隐</a:t>
            </a:r>
            <a:endParaRPr lang="en-US" sz="1250" dirty="0"/>
          </a:p>
        </p:txBody>
      </p:sp>
      <p:sp>
        <p:nvSpPr>
          <p:cNvPr id="40" name="Text 35"/>
          <p:cNvSpPr txBox="1"/>
          <p:nvPr/>
        </p:nvSpPr>
        <p:spPr>
          <a:xfrm>
            <a:off x="1143000" y="424281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F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全概念名 → 少数锚点 → 无提示 → 迁移情境。脚手架必须随水平撤除。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设计理念 ③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机器参考不是标准答案：三层知识表示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984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  原文证据层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9105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不可变、版本化的来源单元——材料到底说了什么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508760" y="2011680"/>
            <a:ext cx="274320" cy="320040"/>
          </a:xfrm>
          <a:prstGeom prst="downArrow">
            <a:avLst/>
          </a:prstGeom>
          <a:solidFill>
            <a:srgbClr val="5A7684"/>
          </a:solidFill>
          <a:ln w="12700">
            <a:solidFill>
              <a:srgbClr val="5A768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69080" y="2011680"/>
            <a:ext cx="274320" cy="320040"/>
          </a:xfrm>
          <a:prstGeom prst="downArrow">
            <a:avLst/>
          </a:prstGeom>
          <a:solidFill>
            <a:srgbClr val="5A7684"/>
          </a:solidFill>
          <a:ln w="12700">
            <a:solidFill>
              <a:srgbClr val="5A768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7744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MRG  机器参考图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2491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生成、证据验证的参考结构。可审核、可修订。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237744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LRG  学习者重建图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272491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学习者在隐藏参考条件下重建的理解。重建本身就是学习。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08760" y="3337560"/>
            <a:ext cx="274320" cy="320040"/>
          </a:xfrm>
          <a:prstGeom prst="downArrow">
            <a:avLst/>
          </a:prstGeom>
          <a:solidFill>
            <a:srgbClr val="5A7684"/>
          </a:solidFill>
          <a:ln w="12700">
            <a:solidFill>
              <a:srgbClr val="5A76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3337560"/>
            <a:ext cx="274320" cy="320040"/>
          </a:xfrm>
          <a:prstGeom prst="downArrow">
            <a:avLst/>
          </a:prstGeom>
          <a:solidFill>
            <a:srgbClr val="5A7684"/>
          </a:solidFill>
          <a:ln w="12700">
            <a:solidFill>
              <a:srgbClr val="5A768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70332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E8853A"/>
          </a:solidFill>
          <a:ln w="12700">
            <a:solidFill>
              <a:srgbClr val="E885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7673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差异比较 → 回到原文裁决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05993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学习者可能错，机器也可能错；谁对谁错，看材料原文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1234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为什么要三层？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16002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 LLM 问答只有一层：模型说什么就是什么。错误没有裁判，会被当成知识沉淀。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Whetstone 里任何一方都不是天然权威——两张图的差异要回到原文去裁决。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0175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一次比较，四重功能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33832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学习诊断</a:t>
            </a:r>
            <a:r>
              <a:rPr lang="en-US" sz="11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：学习者漏了什么、错在哪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图谱质检</a:t>
            </a:r>
            <a:r>
              <a:rPr lang="en-US" sz="11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：学习者可能发现机器的错误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忠实度验证</a:t>
            </a:r>
            <a:r>
              <a:rPr lang="en-US" sz="11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：双方都要回到原文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学习决策</a:t>
            </a:r>
            <a:r>
              <a:rPr lang="en-US" sz="11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：差异决定下一步活动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设计理念 ④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允许不确定，一切可追溯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931920" cy="1481328"/>
          </a:xfrm>
          <a:prstGeom prst="roundRect">
            <a:avLst>
              <a:gd name="adj" fmla="val 617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53619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4538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五类支持类型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94767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每个知识输出都标注来源等级：explicit / entailed / pedagogical_inference / external / unsupported。教学推断不得伪装成作者原意。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234440"/>
            <a:ext cx="3931920" cy="1481328"/>
          </a:xfrm>
          <a:prstGeom prst="roundRect">
            <a:avLst>
              <a:gd name="adj" fmla="val 617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417320"/>
            <a:ext cx="457200" cy="457200"/>
          </a:xfrm>
          <a:prstGeom prst="ellipse">
            <a:avLst/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53619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14538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不覆盖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194767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学习者的回答不得改写机器参考，机器参考不得改写学习者的首次回答。修订只产生新版本，原始记录永远保留。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880360"/>
            <a:ext cx="3931920" cy="1481328"/>
          </a:xfrm>
          <a:prstGeom prst="roundRect">
            <a:avLst>
              <a:gd name="adj" fmla="val 617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1821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30998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职责分离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359359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同一次无记录推理不得同时完成“生成、审核、改写、发布”。确定性检查交给脚本，语义判断交给模型，高影响歧义上报用户。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2880360"/>
            <a:ext cx="3931920" cy="1481328"/>
          </a:xfrm>
          <a:prstGeom prst="roundRect">
            <a:avLst>
              <a:gd name="adj" fmla="val 617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46320" y="3063240"/>
            <a:ext cx="457200" cy="457200"/>
          </a:xfrm>
          <a:prstGeom prst="ellipse">
            <a:avLst/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18211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40680" y="30998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多维状态，允许“不知道”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4846320" y="359359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掌握度不压缩成一个分数：回忆强度、解释质量、关系理解、信心校准分开看。“原文模糊”“无证据”是合法状态，不为完整性伪造确定。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当前落地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023360" cy="3246120"/>
          </a:xfrm>
          <a:prstGeom prst="roundRect">
            <a:avLst>
              <a:gd name="adj" fmla="val 281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5819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4813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plugin/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011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guided-learning-tutor</a:t>
            </a:r>
            <a:r>
              <a:rPr lang="en-US" sz="11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主技能：材料 → 问题链课程 → 逐节主动重建教学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r>
              <a:rPr lang="en-US" sz="11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概念笔记：在任何文档里写 [[概念]]，生成有来源、多例子的笔记，Obsidian 双链直接可用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329184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29184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984248" y="329184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984248" y="329184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91256" y="329184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91256" y="329184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Harness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7673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F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同一份 SKILL.md 契约，无需为各宿主维护分支。纯标准库 Python，带单元测试与课程结构校验脚本。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0" y="1234440"/>
            <a:ext cx="3840480" cy="3246120"/>
          </a:xfrm>
          <a:prstGeom prst="roundRect">
            <a:avLst>
              <a:gd name="adj" fmla="val 2817"/>
            </a:avLst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83480" y="1463040"/>
            <a:ext cx="457200" cy="457200"/>
          </a:xfrm>
          <a:prstGeom prst="ellipse">
            <a:avLst/>
          </a:prstGeom>
          <a:solidFill>
            <a:srgbClr val="E8853A"/>
          </a:solidFill>
          <a:ln w="12700">
            <a:solidFill>
              <a:srgbClr val="E8853A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1581912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577840" y="14813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一次学习会产出什么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983480" y="2011680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teaching-guide.md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给人读的问题链教学文档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lesson-plan.json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机器可校验的小节、来源与检查点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sources.json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来源清单，路径 + SHA-256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learning-progress.json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首次回答与所有修订，支持跨会话续课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concepts/  zoom/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概念笔记与按需细化文档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4983480" y="39776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EE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核心教学闭环已实现，并在我的日常学习中每天使用。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诚实的边界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还没做的，以及下一步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1234440"/>
          </a:xfrm>
          <a:prstGeom prst="roundRect">
            <a:avLst>
              <a:gd name="adj" fmla="val 740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rgbClr val="E8853A"/>
          </a:solidFill>
          <a:ln w="12700">
            <a:solidFill>
              <a:srgbClr val="E885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5937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最有原创性的机制——双图比较——尚未真正运行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7830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学习者的重建目前仍以自由文本保存，未结构化为图；差异分类器还不存在。比较发生在模型推理里，产出一段反馈散文，然后结果就丢了。这不是“少做了”，而是核心假设还没被检验。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2596896" cy="1783080"/>
          </a:xfrm>
          <a:prstGeom prst="roundRect">
            <a:avLst>
              <a:gd name="adj" fmla="val 5128"/>
            </a:avLst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P0-1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跨课学习者状态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4747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E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以概念为键的 learner-state.json，同时解锁记忆与复习队列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73552" y="2651760"/>
            <a:ext cx="2596896" cy="1783080"/>
          </a:xfrm>
          <a:prstGeom prst="roundRect">
            <a:avLst>
              <a:gd name="adj" fmla="val 5128"/>
            </a:avLst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56432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P0-2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456432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 LRG + 比较器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3456432" y="34747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E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把重建存成节点/边，脚本输出差异清单而非单一分数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98464" y="2651760"/>
            <a:ext cx="2596896" cy="1783080"/>
          </a:xfrm>
          <a:prstGeom prst="roundRect">
            <a:avLst>
              <a:gd name="adj" fmla="val 5128"/>
            </a:avLst>
          </a:prstGeom>
          <a:solidFill>
            <a:srgbClr val="22303A"/>
          </a:solidFill>
          <a:ln w="12700">
            <a:solidFill>
              <a:srgbClr val="2230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81344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P0-3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181344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先验证，再做产品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181344" y="34747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E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两个脚本跑出数据后，再决定要不要网页端与多模型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共识文档末尾列出 12 个开放研究问题，它们不能被当作已证明的结论——包括“双轨机制的收益能否覆盖交互成本”这一项目的生死问题。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5A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这个项目教会我的三件事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596896" cy="3246120"/>
          </a:xfrm>
          <a:prstGeom prst="roundRect">
            <a:avLst>
              <a:gd name="adj" fmla="val 352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548640" cy="548640"/>
          </a:xfrm>
          <a:prstGeom prst="ellipse">
            <a:avLst/>
          </a:prstGeom>
          <a:solidFill>
            <a:srgbClr val="E8853A"/>
          </a:solidFill>
          <a:ln w="12700">
            <a:solidFill>
              <a:srgbClr val="E885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6056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先写共识，再写代码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consensus.md 是规则冲突时的唯一权威，design.md 一页讲清中心思想。文档是仓库的一等公民——如果你在做 AI 学习工具，它们可能比代码更有参考价值。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73552" y="1234440"/>
            <a:ext cx="2596896" cy="3246120"/>
          </a:xfrm>
          <a:prstGeom prst="roundRect">
            <a:avLst>
              <a:gd name="adj" fmla="val 352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463040"/>
            <a:ext cx="548640" cy="548640"/>
          </a:xfrm>
          <a:prstGeom prst="ellipse">
            <a:avLst/>
          </a:prstGeom>
          <a:solidFill>
            <a:srgbClr val="E8853A"/>
          </a:solidFill>
          <a:ln w="12700">
            <a:solidFill>
              <a:srgbClr val="E885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798" y="16056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02152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主动去找反面证据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02152" y="27889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我给自己的方案做了一次证据评审：Khanmigo 两年 RCT 说明“参与度才是第一死因”，Kit-Build 只验证过封闭式重组。评审结论改变了实施顺序：从最高形态改为渐进爬坡。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98464" y="1234440"/>
            <a:ext cx="2596896" cy="3246120"/>
          </a:xfrm>
          <a:prstGeom prst="roundRect">
            <a:avLst>
              <a:gd name="adj" fmla="val 352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27064" y="1463040"/>
            <a:ext cx="548640" cy="548640"/>
          </a:xfrm>
          <a:prstGeom prst="ellipse">
            <a:avLst/>
          </a:prstGeom>
          <a:solidFill>
            <a:srgbClr val="E8853A"/>
          </a:solidFill>
          <a:ln w="12700">
            <a:solidFill>
              <a:srgbClr val="E8853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9710" y="16056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27064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先验证核心假设，再浇混凝土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227064" y="278892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网页端能一次解锁持久化、调度、可视化——但在假设未验证前做产品，等于把猜想浇进混凝土。P0 只加两个脚本：收益不明显，损失的是脚本而不是产品。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3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4360"/>
            <a:ext cx="777240" cy="777240"/>
          </a:xfrm>
          <a:prstGeom prst="ellipse">
            <a:avLst/>
          </a:prstGeom>
          <a:solidFill>
            <a:srgbClr val="E8853A"/>
          </a:solidFill>
          <a:ln w="12700">
            <a:solidFill>
              <a:srgbClr val="E8853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796442"/>
            <a:ext cx="373075" cy="37307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55448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让 AI 把你磨锋利，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而不是替你锋利。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46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E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这是最难用的学习工具。除非你也想一起做推巨石的西西弗斯，否则不建议任何人使用。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519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8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仓库：whetstone-ai  ·  Apache-2.0  ·  欢迎来试，也欢迎来拆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1258</Words>
  <Application>Microsoft Macintosh PowerPoint</Application>
  <PresentationFormat>全屏显示(16:9)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Arial</vt:lpstr>
      <vt:lpstr>Calibri</vt:lpstr>
      <vt:lpstr>Cambria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Whetstone 项目介绍</dc:title>
  <dc:subject>PptxGenJS Presentation</dc:subject>
  <dc:creator>Vico</dc:creator>
  <cp:lastModifiedBy>wangxibin11</cp:lastModifiedBy>
  <cp:revision>2</cp:revision>
  <dcterms:created xsi:type="dcterms:W3CDTF">2026-09-04T09:30:18Z</dcterms:created>
  <dcterms:modified xsi:type="dcterms:W3CDTF">2026-09-04T09:35:17Z</dcterms:modified>
</cp:coreProperties>
</file>